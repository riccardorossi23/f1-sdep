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3"/>
    <p:sldMasterId id="214748368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  <p:embeddedFont>
      <p:font typeface="Fjalla One"/>
      <p:regular r:id="rId28"/>
    </p:embeddedFont>
    <p:embeddedFont>
      <p:font typeface="Barlow Semi Condensed Medium"/>
      <p:regular r:id="rId29"/>
      <p:bold r:id="rId30"/>
      <p:italic r:id="rId31"/>
      <p:boldItalic r:id="rId32"/>
    </p:embeddedFont>
    <p:embeddedFont>
      <p:font typeface="Proxima Nova Semibold"/>
      <p:regular r:id="rId33"/>
      <p:bold r:id="rId34"/>
      <p:boldItalic r:id="rId35"/>
    </p:embeddedFont>
    <p:embeddedFont>
      <p:font typeface="Barlow Semi Condense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FjallaOne-regular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SemiCondensed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SemiCondensedMedium-italic.fntdata"/><Relationship Id="rId30" Type="http://schemas.openxmlformats.org/officeDocument/2006/relationships/font" Target="fonts/BarlowSemiCondensedMedium-bold.fntdata"/><Relationship Id="rId11" Type="http://schemas.openxmlformats.org/officeDocument/2006/relationships/slide" Target="slides/slide6.xml"/><Relationship Id="rId33" Type="http://schemas.openxmlformats.org/officeDocument/2006/relationships/font" Target="fonts/ProximaNovaSemibold-regular.fntdata"/><Relationship Id="rId10" Type="http://schemas.openxmlformats.org/officeDocument/2006/relationships/slide" Target="slides/slide5.xml"/><Relationship Id="rId32" Type="http://schemas.openxmlformats.org/officeDocument/2006/relationships/font" Target="fonts/BarlowSemiCondensed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ProximaNova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ProximaNovaSemibold-bold.fntdata"/><Relationship Id="rId15" Type="http://schemas.openxmlformats.org/officeDocument/2006/relationships/slide" Target="slides/slide10.xml"/><Relationship Id="rId37" Type="http://schemas.openxmlformats.org/officeDocument/2006/relationships/font" Target="fonts/BarlowSemiCondensed-bold.fntdata"/><Relationship Id="rId14" Type="http://schemas.openxmlformats.org/officeDocument/2006/relationships/slide" Target="slides/slide9.xml"/><Relationship Id="rId36" Type="http://schemas.openxmlformats.org/officeDocument/2006/relationships/font" Target="fonts/BarlowSemiCondensed-regular.fntdata"/><Relationship Id="rId17" Type="http://schemas.openxmlformats.org/officeDocument/2006/relationships/slide" Target="slides/slide12.xml"/><Relationship Id="rId39" Type="http://schemas.openxmlformats.org/officeDocument/2006/relationships/font" Target="fonts/BarlowSemiCondensed-boldItalic.fntdata"/><Relationship Id="rId16" Type="http://schemas.openxmlformats.org/officeDocument/2006/relationships/slide" Target="slides/slide11.xml"/><Relationship Id="rId38" Type="http://schemas.openxmlformats.org/officeDocument/2006/relationships/font" Target="fonts/BarlowSemiCondense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g8714a43093_3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3" name="Google Shape;2143;g8714a43093_3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g804e9800b4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9" name="Google Shape;2149;g804e9800b4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g36bfd14611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5" name="Google Shape;2155;g36bfd14611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g36bfd14611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6" name="Google Shape;2166;g36bfd14611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g36bfd1461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2" name="Google Shape;2172;g36bfd1461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36bfd14611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8" name="Google Shape;2178;g36bfd14611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g36bfd14611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4" name="Google Shape;2184;g36bfd14611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g36bfd14611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0" name="Google Shape;2190;g36bfd14611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g36bfd14611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6" name="Google Shape;2196;g36bfd14611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g36bfd14611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2" name="Google Shape;2202;g36bfd14611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g36bfd14611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8" name="Google Shape;2208;g36bfd14611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6bfd14611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4" name="Google Shape;2214;g36bfd14611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36bfd14611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36bfd14611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g86fa6133bc_4_20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6" name="Google Shape;2226;g86fa6133bc_4_20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684" name="Google Shape;1684;p3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node.j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oh9YFRIeDZos50WQEtfFBSBr2cDTlWhu/view" TargetMode="External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NBAq0n0eQnTjoUnoXT2isDOU_VpF1JDb/view" TargetMode="External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localhost:3000" TargetMode="External"/><Relationship Id="rId4" Type="http://schemas.openxmlformats.org/officeDocument/2006/relationships/hyperlink" Target="http://localhost:3000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bit.ly/2PfT4lq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4" name="Google Shape;1884;p35"/>
          <p:cNvSpPr txBox="1"/>
          <p:nvPr>
            <p:ph type="ctrTitle"/>
          </p:nvPr>
        </p:nvSpPr>
        <p:spPr>
          <a:xfrm>
            <a:off x="6851430" y="2603518"/>
            <a:ext cx="802500" cy="89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F1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/>
          <p:nvPr>
            <p:ph idx="1" type="subTitle"/>
          </p:nvPr>
        </p:nvSpPr>
        <p:spPr>
          <a:xfrm>
            <a:off x="7215900" y="4304348"/>
            <a:ext cx="1928100" cy="7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Rossi Riccardo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DESCRIZIONE PROGETTO</a:t>
            </a:r>
            <a:endParaRPr/>
          </a:p>
        </p:txBody>
      </p:sp>
      <p:sp>
        <p:nvSpPr>
          <p:cNvPr id="1891" name="Google Shape;1891;p36"/>
          <p:cNvSpPr txBox="1"/>
          <p:nvPr>
            <p:ph idx="1" type="body"/>
          </p:nvPr>
        </p:nvSpPr>
        <p:spPr>
          <a:xfrm>
            <a:off x="714650" y="914325"/>
            <a:ext cx="7705500" cy="41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progetto sviluppato consiste nella realizzazione di un servizio web distribuito che permette la gestione e l'acquisto di biglietti per le gare del campionato mondiale di Formula 1.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L'intero sistema è stato pensato per soddisfare i requisiti richiesti dal cliente, in particolare prevedendo la progettazione e implementazione di un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Service REST/JSON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 interazione su più livelli (client, server, database).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L'applicazione è suddivisa in due componenti principali: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RESTful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sviluppato con Node.js e Express.js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realizzato in HTML5, CSS3 e JavaScript puro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MySQL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che gestisce la persistenza dei dati relativi a utenti, biglietti, gare e classifiche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sistema prevede due tipi distinti di utenti: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Fruitori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utenti finali registrati che possono consultare il calendario delle gare, visualizzare i biglietti disponibili e procedere all'acquisto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Erogatori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amministratori che hanno il compito di gestire il sistema, modificando la disponibilità e i prezzi dei biglietti, o cancellando interi settori di vendita.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rect b="b" l="l" r="r" t="t"/>
              <a:pathLst>
                <a:path extrusionOk="0" h="163850" w="230697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rect b="b" l="l" r="r" t="t"/>
              <a:pathLst>
                <a:path extrusionOk="0" h="163855" w="230069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rect b="b" l="l" r="r" t="t"/>
              <a:pathLst>
                <a:path extrusionOk="0" h="127131" w="99859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rect b="b" l="l" r="r" t="t"/>
              <a:pathLst>
                <a:path extrusionOk="0" h="127735" w="96235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rect b="b" l="l" r="r" t="t"/>
              <a:pathLst>
                <a:path extrusionOk="0" h="7395" w="1856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rect b="b" l="l" r="r" t="t"/>
              <a:pathLst>
                <a:path extrusionOk="0" h="27655" w="27433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rect b="b" l="l" r="r" t="t"/>
              <a:pathLst>
                <a:path extrusionOk="0" h="14715" w="17525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rect b="b" l="l" r="r" t="t"/>
              <a:pathLst>
                <a:path extrusionOk="0" h="88423" w="50355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rect b="b" l="l" r="r" t="t"/>
              <a:pathLst>
                <a:path extrusionOk="0" h="89064" w="5102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rect b="b" l="l" r="r" t="t"/>
              <a:pathLst>
                <a:path extrusionOk="0" h="29318" w="19818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rect b="b" l="l" r="r" t="t"/>
              <a:pathLst>
                <a:path extrusionOk="0" h="14557" w="19152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rect b="b" l="l" r="r" t="t"/>
              <a:pathLst>
                <a:path extrusionOk="0" h="12830" w="18116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rect b="b" l="l" r="r" t="t"/>
              <a:pathLst>
                <a:path extrusionOk="0" h="29938" w="20408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rect b="b" l="l" r="r" t="t"/>
              <a:pathLst>
                <a:path extrusionOk="0" h="16776" w="5325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rect b="b" l="l" r="r" t="t"/>
              <a:pathLst>
                <a:path extrusionOk="0" h="89039" w="98454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rect b="b" l="l" r="r" t="t"/>
              <a:pathLst>
                <a:path extrusionOk="0" h="47841" w="49431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rect b="b" l="l" r="r" t="t"/>
              <a:pathLst>
                <a:path extrusionOk="0" h="46473" w="17193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rect b="b" l="l" r="r" t="t"/>
              <a:pathLst>
                <a:path extrusionOk="0" h="16046" w="37341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rect b="b" l="l" r="r" t="t"/>
              <a:pathLst>
                <a:path extrusionOk="0" h="35825" w="14234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rect b="b" l="l" r="r" t="t"/>
              <a:pathLst>
                <a:path extrusionOk="0" h="89665" w="99046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rect b="b" l="l" r="r" t="t"/>
              <a:pathLst>
                <a:path extrusionOk="0" h="70578" w="15566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rect b="b" l="l" r="r" t="t"/>
              <a:pathLst>
                <a:path extrusionOk="0" h="62369" w="1442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rect b="b" l="l" r="r" t="t"/>
              <a:pathLst>
                <a:path extrusionOk="0" h="29468" w="44365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rect b="b" l="l" r="r" t="t"/>
              <a:pathLst>
                <a:path extrusionOk="0" h="6471" w="15898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rect b="b" l="l" r="r" t="t"/>
              <a:pathLst>
                <a:path extrusionOk="0" h="23034" w="32978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rect b="b" l="l" r="r" t="t"/>
              <a:pathLst>
                <a:path extrusionOk="0" h="6175" w="13163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rect b="b" l="l" r="r" t="t"/>
              <a:pathLst>
                <a:path extrusionOk="0" h="19854" w="29614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rect b="b" l="l" r="r" t="t"/>
              <a:pathLst>
                <a:path extrusionOk="0" h="2727" w="1702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rect b="b" l="l" r="r" t="t"/>
              <a:pathLst>
                <a:path extrusionOk="0" h="6375" w="3218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rect b="b" l="l" r="r" t="t"/>
              <a:pathLst>
                <a:path extrusionOk="0" h="7783" w="4364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rect b="b" l="l" r="r" t="t"/>
              <a:pathLst>
                <a:path extrusionOk="0" h="30119" w="44883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rect b="b" l="l" r="r" t="t"/>
              <a:pathLst>
                <a:path extrusionOk="0" h="82839" w="42221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rect b="b" l="l" r="r" t="t"/>
              <a:pathLst>
                <a:path extrusionOk="0" h="54927" w="40964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rect b="b" l="l" r="r" t="t"/>
              <a:pathLst>
                <a:path extrusionOk="0" h="44624" w="40299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rect b="b" l="l" r="r" t="t"/>
              <a:pathLst>
                <a:path extrusionOk="0" h="83444" w="4285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rect b="b" l="l" r="r" t="t"/>
              <a:pathLst>
                <a:path extrusionOk="0" h="16121" w="11092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rect b="b" l="l" r="r" t="t"/>
              <a:pathLst>
                <a:path extrusionOk="0" h="16763" w="11758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rect b="b" l="l" r="r" t="t"/>
              <a:pathLst>
                <a:path extrusionOk="0" h="6323" w="2811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rect b="b" l="l" r="r" t="t"/>
              <a:pathLst>
                <a:path extrusionOk="0" h="6914" w="3403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rect b="b" l="l" r="r" t="t"/>
              <a:pathLst>
                <a:path extrusionOk="0" h="42926" w="51945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rect b="b" l="l" r="r" t="t"/>
              <a:pathLst>
                <a:path extrusionOk="0" h="43552" w="51908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rect b="b" l="l" r="r" t="t"/>
              <a:pathLst>
                <a:path extrusionOk="0" h="3793" w="2145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rect b="b" l="l" r="r" t="t"/>
              <a:pathLst>
                <a:path extrusionOk="0" h="26464" w="18043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rect b="b" l="l" r="r" t="t"/>
              <a:pathLst>
                <a:path extrusionOk="0" h="703" w="2996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rect b="b" l="l" r="r" t="t"/>
              <a:pathLst>
                <a:path extrusionOk="0" h="4546" w="10529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rect b="b" l="l" r="r" t="t"/>
              <a:pathLst>
                <a:path extrusionOk="0" h="3624" w="843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rect b="b" l="l" r="r" t="t"/>
              <a:pathLst>
                <a:path extrusionOk="0" h="5214" w="9613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rect b="b" l="l" r="r" t="t"/>
              <a:pathLst>
                <a:path extrusionOk="0" h="6215" w="14342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rect b="b" l="l" r="r" t="t"/>
              <a:pathLst>
                <a:path extrusionOk="0" h="5584" w="11647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rect b="b" l="l" r="r" t="t"/>
              <a:pathLst>
                <a:path extrusionOk="0" h="6803" w="12866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rect b="b" l="l" r="r" t="t"/>
              <a:pathLst>
                <a:path extrusionOk="0" h="6781" w="15687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rect b="b" l="l" r="r" t="t"/>
              <a:pathLst>
                <a:path extrusionOk="0" h="6101" w="1283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rect b="b" l="l" r="r" t="t"/>
              <a:pathLst>
                <a:path extrusionOk="0" h="7395" w="14012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rect b="b" l="l" r="r" t="t"/>
              <a:pathLst>
                <a:path extrusionOk="0" h="6773" w="15699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rect b="b" l="l" r="r" t="t"/>
              <a:pathLst>
                <a:path extrusionOk="0" h="6766" w="13421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rect b="b" l="l" r="r" t="t"/>
              <a:pathLst>
                <a:path extrusionOk="0" h="7432" w="14013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rect b="b" l="l" r="r" t="t"/>
              <a:pathLst>
                <a:path extrusionOk="0" h="41912" w="33977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rect b="b" l="l" r="r" t="t"/>
              <a:pathLst>
                <a:path extrusionOk="0" h="16045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rect b="b" l="l" r="r" t="t"/>
              <a:pathLst>
                <a:path extrusionOk="0" h="25145" w="32941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rect b="b" l="l" r="r" t="t"/>
              <a:pathLst>
                <a:path extrusionOk="0" h="25141" w="32941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rect b="b" l="l" r="r" t="t"/>
              <a:pathLst>
                <a:path extrusionOk="0" h="16046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rect b="b" l="l" r="r" t="t"/>
              <a:pathLst>
                <a:path extrusionOk="0" h="223" w="371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rect b="b" l="l" r="r" t="t"/>
              <a:pathLst>
                <a:path extrusionOk="0" h="42523" w="33866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rect b="b" l="l" r="r" t="t"/>
              <a:pathLst>
                <a:path extrusionOk="0" h="11536" w="11499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rect b="b" l="l" r="r" t="t"/>
              <a:pathLst>
                <a:path extrusionOk="0" h="7506" w="1050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rect b="b" l="l" r="r" t="t"/>
              <a:pathLst>
                <a:path extrusionOk="0" h="12127" w="12127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rect b="b" l="l" r="r" t="t"/>
              <a:pathLst>
                <a:path extrusionOk="0" h="11536" w="11536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rect b="b" l="l" r="r" t="t"/>
              <a:pathLst>
                <a:path extrusionOk="0" h="7580" w="10945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rect b="b" l="l" r="r" t="t"/>
              <a:pathLst>
                <a:path extrusionOk="0" h="12127" w="12128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rect b="b" l="l" r="r" t="t"/>
              <a:pathLst>
                <a:path extrusionOk="0" h="1563" w="5176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rect b="b" l="l" r="r" t="t"/>
              <a:pathLst>
                <a:path extrusionOk="0" h="2986" w="6175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rect b="b" l="l" r="r" t="t"/>
              <a:pathLst>
                <a:path extrusionOk="0" h="3248" w="7321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rect b="b" l="l" r="r" t="t"/>
              <a:pathLst>
                <a:path extrusionOk="0" h="10737" w="3883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rect b="b" l="l" r="r" t="t"/>
              <a:pathLst>
                <a:path extrusionOk="0" h="2446" w="6545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rect b="b" l="l" r="r" t="t"/>
              <a:pathLst>
                <a:path extrusionOk="0" h="630" w="47545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rect b="b" l="l" r="r" t="t"/>
              <a:pathLst>
                <a:path extrusionOk="0" h="630" w="161747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rect b="b" l="l" r="r" t="t"/>
              <a:pathLst>
                <a:path extrusionOk="0" h="630" w="636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rect b="b" l="l" r="r" t="t"/>
              <a:pathLst>
                <a:path extrusionOk="0" h="32794" w="14013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rect b="b" l="l" r="r" t="t"/>
              <a:pathLst>
                <a:path extrusionOk="0" h="69099" w="4322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rect b="b" l="l" r="r" t="t"/>
              <a:pathLst>
                <a:path extrusionOk="0" h="69099" w="11132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rect b="b" l="l" r="r" t="t"/>
              <a:pathLst>
                <a:path extrusionOk="0" h="962" w="111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rect b="b" l="l" r="r" t="t"/>
              <a:pathLst>
                <a:path extrusionOk="0" h="1997" w="2293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rect b="b" l="l" r="r" t="t"/>
              <a:pathLst>
                <a:path extrusionOk="0" h="33422" w="14642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rect b="b" l="l" r="r" t="t"/>
              <a:pathLst>
                <a:path extrusionOk="0" h="78046" w="115571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rect b="b" l="l" r="r" t="t"/>
              <a:pathLst>
                <a:path extrusionOk="0" h="78675" w="11620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rect b="b" l="l" r="r" t="t"/>
              <a:pathLst>
                <a:path extrusionOk="0" h="6175" w="7897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rect b="b" l="l" r="r" t="t"/>
              <a:pathLst>
                <a:path extrusionOk="0" h="6803" w="79599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rect b="b" l="l" r="r" t="t"/>
              <a:pathLst>
                <a:path extrusionOk="0" h="18062" w="59783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rect b="b" l="l" r="r" t="t"/>
              <a:pathLst>
                <a:path extrusionOk="0" h="3661" w="3662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rect b="b" l="l" r="r" t="t"/>
              <a:pathLst>
                <a:path extrusionOk="0" h="4252" w="4252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rect b="b" l="l" r="r" t="t"/>
              <a:pathLst>
                <a:path extrusionOk="0" h="3624" w="3661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rect b="b" l="l" r="r" t="t"/>
              <a:pathLst>
                <a:path extrusionOk="0" h="4290" w="4252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rect b="b" l="l" r="r" t="t"/>
              <a:pathLst>
                <a:path extrusionOk="0" h="3661" w="3624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rect b="b" l="l" r="r" t="t"/>
              <a:pathLst>
                <a:path extrusionOk="0" h="3624" w="3624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rect b="b" l="l" r="r" t="t"/>
              <a:pathLst>
                <a:path extrusionOk="0" h="66067" w="2108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rect b="b" l="l" r="r" t="t"/>
              <a:pathLst>
                <a:path extrusionOk="0" h="66659" w="270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rect b="b" l="l" r="r" t="t"/>
              <a:pathLst>
                <a:path extrusionOk="0" h="593" w="5066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rect b="b" l="l" r="r" t="t"/>
              <a:pathLst>
                <a:path extrusionOk="0" h="593" w="9909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rect b="b" l="l" r="r" t="t"/>
              <a:pathLst>
                <a:path extrusionOk="0" h="593" w="3032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rect b="b" l="l" r="r" t="t"/>
              <a:pathLst>
                <a:path extrusionOk="0" h="630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rect b="b" l="l" r="r" t="t"/>
              <a:pathLst>
                <a:path extrusionOk="0" h="630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rect b="b" l="l" r="r" t="t"/>
              <a:pathLst>
                <a:path extrusionOk="0" h="630" w="5066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rect b="b" l="l" r="r" t="t"/>
              <a:pathLst>
                <a:path extrusionOk="0" h="630" w="9909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rect b="b" l="l" r="r" t="t"/>
              <a:pathLst>
                <a:path extrusionOk="0" h="630" w="3032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rect b="b" l="l" r="r" t="t"/>
              <a:pathLst>
                <a:path extrusionOk="0" h="593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rect b="b" l="l" r="r" t="t"/>
              <a:pathLst>
                <a:path extrusionOk="0" h="593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rect b="b" l="l" r="r" t="t"/>
              <a:pathLst>
                <a:path extrusionOk="0" h="6176" w="2773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rect b="b" l="l" r="r" t="t"/>
              <a:pathLst>
                <a:path extrusionOk="0" h="3440" w="2774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rect b="b" l="l" r="r" t="t"/>
              <a:pathLst>
                <a:path extrusionOk="0" h="1850" w="2774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rect b="b" l="l" r="r" t="t"/>
              <a:pathLst>
                <a:path extrusionOk="0" h="4364" w="2774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rect b="b" l="l" r="r" t="t"/>
              <a:pathLst>
                <a:path extrusionOk="0" h="2774" w="2774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rect b="b" l="l" r="r" t="t"/>
              <a:pathLst>
                <a:path extrusionOk="0" h="4586" w="2773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rect b="b" l="l" r="r" t="t"/>
              <a:pathLst>
                <a:path extrusionOk="0" h="778" w="2774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rect b="b" l="l" r="r" t="t"/>
              <a:pathLst>
                <a:path extrusionOk="0" h="2257" w="2774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rect b="b" l="l" r="r" t="t"/>
              <a:pathLst>
                <a:path extrusionOk="0" h="889" w="2774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rect b="b" l="l" r="r" t="t"/>
              <a:pathLst>
                <a:path extrusionOk="0" h="2035" w="2773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rect b="b" l="l" r="r" t="t"/>
              <a:pathLst>
                <a:path extrusionOk="0" h="4919" w="2773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rect b="b" l="l" r="r" t="t"/>
              <a:pathLst>
                <a:path extrusionOk="0" h="4068" w="2774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rect b="b" l="l" r="r" t="t"/>
              <a:pathLst>
                <a:path extrusionOk="0" h="32905" w="6804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rect b="b" l="l" r="r" t="t"/>
              <a:pathLst>
                <a:path extrusionOk="0" h="592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rect b="b" l="l" r="r" t="t"/>
              <a:pathLst>
                <a:path extrusionOk="0" h="629" w="12719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rect b="b" l="l" r="r" t="t"/>
              <a:pathLst>
                <a:path extrusionOk="0" h="592" w="12719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rect b="b" l="l" r="r" t="t"/>
              <a:pathLst>
                <a:path extrusionOk="0" h="37970" w="3797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rect b="b" l="l" r="r" t="t"/>
              <a:pathLst>
                <a:path extrusionOk="0" h="38636" w="38635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rect b="b" l="l" r="r" t="t"/>
              <a:pathLst>
                <a:path extrusionOk="0" h="28358" w="28358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rect b="b" l="l" r="r" t="t"/>
              <a:pathLst>
                <a:path extrusionOk="0" h="29023" w="29023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rect b="b" l="l" r="r" t="t"/>
              <a:pathLst>
                <a:path extrusionOk="0" h="17932" w="17932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rect b="b" l="l" r="r" t="t"/>
              <a:pathLst>
                <a:path extrusionOk="0" h="18524" w="18523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rect b="b" l="l" r="r" t="t"/>
              <a:pathLst>
                <a:path extrusionOk="0" h="18745" w="18782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rect b="b" l="l" r="r" t="t"/>
              <a:pathLst>
                <a:path extrusionOk="0" h="19410" w="19373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rect b="b" l="l" r="r" t="t"/>
              <a:pathLst>
                <a:path extrusionOk="0" h="10501" w="10501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rect b="b" l="l" r="r" t="t"/>
              <a:pathLst>
                <a:path extrusionOk="0" h="11130" w="11092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rect b="b" l="l" r="r" t="t"/>
              <a:pathLst>
                <a:path extrusionOk="0" h="10982" w="10981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rect b="b" l="l" r="r" t="t"/>
              <a:pathLst>
                <a:path extrusionOk="0" h="11572" w="1161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rect b="b" l="l" r="r" t="t"/>
              <a:pathLst>
                <a:path extrusionOk="0" h="6175" w="6175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rect b="b" l="l" r="r" t="t"/>
              <a:pathLst>
                <a:path extrusionOk="0" h="6766" w="6766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rect b="b" l="l" r="r" t="t"/>
              <a:pathLst>
                <a:path extrusionOk="0" h="1" w="59524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rect b="b" l="l" r="r" t="t"/>
              <a:pathLst>
                <a:path extrusionOk="0" h="630" w="60116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rect b="b" l="l" r="r" t="t"/>
              <a:pathLst>
                <a:path extrusionOk="0" h="29578" w="37748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rect b="b" l="l" r="r" t="t"/>
              <a:pathLst>
                <a:path extrusionOk="0" h="7580" w="34162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rect b="b" l="l" r="r" t="t"/>
              <a:pathLst>
                <a:path extrusionOk="0" h="2996" w="37748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rect b="b" l="l" r="r" t="t"/>
              <a:pathLst>
                <a:path extrusionOk="0" h="629" w="37748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rect b="b" l="l" r="r" t="t"/>
              <a:pathLst>
                <a:path extrusionOk="0" h="33792" w="38377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rect b="b" l="l" r="r" t="t"/>
              <a:pathLst>
                <a:path extrusionOk="0" h="5658" w="37748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rect b="b" l="l" r="r" t="t"/>
              <a:pathLst>
                <a:path extrusionOk="0" h="6249" w="38377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rect b="b" l="l" r="r" t="t"/>
              <a:pathLst>
                <a:path extrusionOk="0" h="15566" w="15566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rect b="b" l="l" r="r" t="t"/>
              <a:pathLst>
                <a:path extrusionOk="0" h="16194" w="16194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rect b="b" l="l" r="r" t="t"/>
              <a:pathLst>
                <a:path extrusionOk="0" h="10538" w="9133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rect b="b" l="l" r="r" t="t"/>
              <a:pathLst>
                <a:path extrusionOk="0" h="11147" w="9724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6" name="Google Shape;2106;p37"/>
          <p:cNvGrpSpPr/>
          <p:nvPr/>
        </p:nvGrpSpPr>
        <p:grpSpPr>
          <a:xfrm>
            <a:off x="731647" y="1650460"/>
            <a:ext cx="635100" cy="733490"/>
            <a:chOff x="731647" y="1650460"/>
            <a:chExt cx="635100" cy="73349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31647" y="2728277"/>
            <a:ext cx="635100" cy="734984"/>
            <a:chOff x="731647" y="2728277"/>
            <a:chExt cx="635100" cy="734984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0" name="Google Shape;2130;p37"/>
          <p:cNvSpPr txBox="1"/>
          <p:nvPr>
            <p:ph type="title"/>
          </p:nvPr>
        </p:nvSpPr>
        <p:spPr>
          <a:xfrm>
            <a:off x="4511676" y="356625"/>
            <a:ext cx="40104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Architettura web service</a:t>
            </a:r>
            <a:endParaRPr/>
          </a:p>
        </p:txBody>
      </p:sp>
      <p:sp>
        <p:nvSpPr>
          <p:cNvPr id="2131" name="Google Shape;2131;p37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NODE.JS</a:t>
            </a:r>
            <a:r>
              <a:rPr lang="en"/>
              <a:t> e EXPRESS.JS</a:t>
            </a:r>
            <a:endParaRPr/>
          </a:p>
        </p:txBody>
      </p:sp>
      <p:sp>
        <p:nvSpPr>
          <p:cNvPr id="2132" name="Google Shape;2132;p37"/>
          <p:cNvSpPr txBox="1"/>
          <p:nvPr>
            <p:ph idx="4" type="subTitle"/>
          </p:nvPr>
        </p:nvSpPr>
        <p:spPr>
          <a:xfrm>
            <a:off x="1664208" y="1842712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la gestione della REST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2133" name="Google Shape;2133;p37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MYSQL</a:t>
            </a:r>
            <a:endParaRPr/>
          </a:p>
        </p:txBody>
      </p:sp>
      <p:sp>
        <p:nvSpPr>
          <p:cNvPr id="2134" name="Google Shape;2134;p37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l'archiviazione dei dati</a:t>
            </a:r>
            <a:endParaRPr/>
          </a:p>
        </p:txBody>
      </p:sp>
      <p:sp>
        <p:nvSpPr>
          <p:cNvPr id="2135" name="Google Shape;2135;p37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</a:t>
            </a:r>
            <a:endParaRPr/>
          </a:p>
        </p:txBody>
      </p:sp>
      <p:sp>
        <p:nvSpPr>
          <p:cNvPr id="2136" name="Google Shape;2136;p37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l'interattività lato client</a:t>
            </a:r>
            <a:endParaRPr/>
          </a:p>
        </p:txBody>
      </p:sp>
      <p:sp>
        <p:nvSpPr>
          <p:cNvPr id="2137" name="Google Shape;2137;p37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38" name="Google Shape;2138;p37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39" name="Google Shape;2139;p37"/>
          <p:cNvSpPr txBox="1"/>
          <p:nvPr>
            <p:ph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140" name="Google Shape;2140;p37"/>
          <p:cNvSpPr txBox="1"/>
          <p:nvPr>
            <p:ph idx="4" type="subTitle"/>
          </p:nvPr>
        </p:nvSpPr>
        <p:spPr>
          <a:xfrm>
            <a:off x="276425" y="719403"/>
            <a:ext cx="7710300" cy="6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L'architettura è costruita secondo il paradigma RESTful. Le interazioni tra client e server avvengono tramite chiamate HTTP che restituiscono e accettano dati in formato JSON.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p38"/>
          <p:cNvSpPr txBox="1"/>
          <p:nvPr>
            <p:ph type="title"/>
          </p:nvPr>
        </p:nvSpPr>
        <p:spPr>
          <a:xfrm>
            <a:off x="1938225" y="2231125"/>
            <a:ext cx="4235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Architettura web service</a:t>
            </a:r>
            <a:endParaRPr sz="4700"/>
          </a:p>
        </p:txBody>
      </p:sp>
      <p:sp>
        <p:nvSpPr>
          <p:cNvPr id="2146" name="Google Shape;2146;p38"/>
          <p:cNvSpPr txBox="1"/>
          <p:nvPr>
            <p:ph idx="2" type="title"/>
          </p:nvPr>
        </p:nvSpPr>
        <p:spPr>
          <a:xfrm>
            <a:off x="2973225" y="116131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39"/>
          <p:cNvSpPr txBox="1"/>
          <p:nvPr>
            <p:ph type="title"/>
          </p:nvPr>
        </p:nvSpPr>
        <p:spPr>
          <a:xfrm>
            <a:off x="1577125" y="227200"/>
            <a:ext cx="55947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STRUTTURA DEGLI ENDPOINT REST(LOGIN)</a:t>
            </a:r>
            <a:endParaRPr/>
          </a:p>
        </p:txBody>
      </p:sp>
      <p:sp>
        <p:nvSpPr>
          <p:cNvPr id="2152" name="Google Shape;2152;p39"/>
          <p:cNvSpPr txBox="1"/>
          <p:nvPr>
            <p:ph idx="1" type="subTitle"/>
          </p:nvPr>
        </p:nvSpPr>
        <p:spPr>
          <a:xfrm>
            <a:off x="1969675" y="803200"/>
            <a:ext cx="5671500" cy="35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Autenticazione e Registrazione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</a:rPr>
              <a:t>POST /register</a:t>
            </a:r>
            <a:r>
              <a:rPr lang="en" sz="1600">
                <a:solidFill>
                  <a:srgbClr val="000000"/>
                </a:solidFill>
              </a:rPr>
              <a:t>: Permette all'utente di registrarsi inviando nome, cognome, email, password, conferma password e codice carta d'identità. I dati vengono validati e salvati nel database.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600">
                <a:solidFill>
                  <a:srgbClr val="000000"/>
                </a:solidFill>
              </a:rPr>
              <a:t>POST /login</a:t>
            </a:r>
            <a:r>
              <a:rPr lang="en" sz="1600">
                <a:solidFill>
                  <a:srgbClr val="000000"/>
                </a:solidFill>
              </a:rPr>
              <a:t>: Autentica l'utente restituendo un token di sessione se le credenziali sono corrette. Gli utenti con ruolo "admin" vengono reindirizzati all'interfaccia di amministrazione.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7" name="Google Shape;2157;p40" title="Screenshot 2025-07-08 alle 12.09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00" y="957625"/>
            <a:ext cx="6617774" cy="286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41"/>
          <p:cNvSpPr txBox="1"/>
          <p:nvPr>
            <p:ph type="title"/>
          </p:nvPr>
        </p:nvSpPr>
        <p:spPr>
          <a:xfrm>
            <a:off x="1225626" y="318575"/>
            <a:ext cx="67020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STRUTTURA DEGLI ENDPOINT REST(FRUITORE)</a:t>
            </a:r>
            <a:endParaRPr/>
          </a:p>
        </p:txBody>
      </p:sp>
      <p:sp>
        <p:nvSpPr>
          <p:cNvPr id="2163" name="Google Shape;2163;p41"/>
          <p:cNvSpPr txBox="1"/>
          <p:nvPr>
            <p:ph idx="1" type="subTitle"/>
          </p:nvPr>
        </p:nvSpPr>
        <p:spPr>
          <a:xfrm>
            <a:off x="1969675" y="803200"/>
            <a:ext cx="5958000" cy="32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Gestione Biglietti (Utente)</a:t>
            </a:r>
            <a:endParaRPr b="1"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GET /biglietti/:idGara</a:t>
            </a:r>
            <a:r>
              <a:rPr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Ritorna i settori disponibili per una gara specifica, con dettagli su prezzo e quantità residua.</a:t>
            </a:r>
            <a:br>
              <a:rPr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</a:br>
            <a:endParaRPr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POST/acquista</a:t>
            </a:r>
            <a:r>
              <a:rPr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Riceve i dati dell'acquisto (id utente, id gara, settore, quantità, codice carta). Verifica disponibilità e aggiorna il database in caso di successo. Restituisce messaggi chiari di conferma o errore.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42"/>
          <p:cNvSpPr txBox="1"/>
          <p:nvPr>
            <p:ph type="title"/>
          </p:nvPr>
        </p:nvSpPr>
        <p:spPr>
          <a:xfrm>
            <a:off x="1225626" y="318575"/>
            <a:ext cx="67020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STRUTTURA DEGLI ENDPOINT REST(EROGATORE)</a:t>
            </a:r>
            <a:endParaRPr/>
          </a:p>
        </p:txBody>
      </p:sp>
      <p:sp>
        <p:nvSpPr>
          <p:cNvPr id="2169" name="Google Shape;2169;p42"/>
          <p:cNvSpPr txBox="1"/>
          <p:nvPr>
            <p:ph idx="1" type="subTitle"/>
          </p:nvPr>
        </p:nvSpPr>
        <p:spPr>
          <a:xfrm>
            <a:off x="1969675" y="803200"/>
            <a:ext cx="6027000" cy="4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Gestione Biglietti (Admin)</a:t>
            </a:r>
            <a:endParaRPr b="1"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GET /admin/biglietti/:idGara</a:t>
            </a:r>
            <a:r>
              <a:rPr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Restituisce la lista dettagliata di tutti i settori per una gara, visibile solo agli utenti autenticati come admin.</a:t>
            </a:r>
            <a:br>
              <a:rPr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</a:br>
            <a:endParaRPr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PUT /admin/biglietti</a:t>
            </a:r>
            <a:r>
              <a:rPr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Aggiorna quantità e/o prezzo di un determinato settore. Richiede payload con id settore, nuova quantità e nuovo prezzo.</a:t>
            </a:r>
            <a:br>
              <a:rPr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</a:br>
            <a:endParaRPr sz="1600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DELETE /admin/settore/:id</a:t>
            </a:r>
            <a:r>
              <a:rPr lang="en" sz="1600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: Elimina un settore dalla gara indicata. L'operazione richiede conferma da parte dell'utente e è accessibile solo ad amministratori.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43"/>
          <p:cNvSpPr txBox="1"/>
          <p:nvPr>
            <p:ph type="title"/>
          </p:nvPr>
        </p:nvSpPr>
        <p:spPr>
          <a:xfrm>
            <a:off x="1938225" y="2231125"/>
            <a:ext cx="4235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RUOLI E FUNZIONALITà</a:t>
            </a:r>
            <a:endParaRPr sz="4700"/>
          </a:p>
        </p:txBody>
      </p:sp>
      <p:sp>
        <p:nvSpPr>
          <p:cNvPr id="2175" name="Google Shape;2175;p43"/>
          <p:cNvSpPr txBox="1"/>
          <p:nvPr>
            <p:ph idx="2" type="title"/>
          </p:nvPr>
        </p:nvSpPr>
        <p:spPr>
          <a:xfrm>
            <a:off x="2973225" y="116131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44"/>
          <p:cNvSpPr txBox="1"/>
          <p:nvPr>
            <p:ph type="title"/>
          </p:nvPr>
        </p:nvSpPr>
        <p:spPr>
          <a:xfrm>
            <a:off x="1577125" y="227200"/>
            <a:ext cx="55947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FRUITORE</a:t>
            </a:r>
            <a:endParaRPr/>
          </a:p>
        </p:txBody>
      </p:sp>
      <p:sp>
        <p:nvSpPr>
          <p:cNvPr id="2181" name="Google Shape;2181;p44"/>
          <p:cNvSpPr txBox="1"/>
          <p:nvPr>
            <p:ph idx="1" type="subTitle"/>
          </p:nvPr>
        </p:nvSpPr>
        <p:spPr>
          <a:xfrm>
            <a:off x="1538725" y="796500"/>
            <a:ext cx="5671500" cy="35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Fruitori (Utenti)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600">
                <a:solidFill>
                  <a:srgbClr val="000000"/>
                </a:solidFill>
              </a:rPr>
              <a:t>Accesso tramite login e registrazione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600">
                <a:solidFill>
                  <a:srgbClr val="000000"/>
                </a:solidFill>
              </a:rPr>
              <a:t>Visualizzazione gare e biglietti disponibili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600">
                <a:solidFill>
                  <a:srgbClr val="000000"/>
                </a:solidFill>
              </a:rPr>
              <a:t>Acquisto dei biglietti con inserimento del codice carta (fittizio)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600">
                <a:solidFill>
                  <a:srgbClr val="000000"/>
                </a:solidFill>
              </a:rPr>
              <a:t>Visualizzazione dell’area riservata con i propri dati e possibilità di logout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6" name="Google Shape;2186;p45" title="Registrazione schermo 2025-07-08 alle 12.09.35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4950" y="542975"/>
            <a:ext cx="6980652" cy="375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7" name="Google Shape;2187;p45"/>
          <p:cNvSpPr txBox="1"/>
          <p:nvPr/>
        </p:nvSpPr>
        <p:spPr>
          <a:xfrm>
            <a:off x="307200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rPr>
              <a:t>FRUITORE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46"/>
          <p:cNvSpPr txBox="1"/>
          <p:nvPr>
            <p:ph type="title"/>
          </p:nvPr>
        </p:nvSpPr>
        <p:spPr>
          <a:xfrm>
            <a:off x="1577125" y="227200"/>
            <a:ext cx="55947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EROGATORE</a:t>
            </a:r>
            <a:endParaRPr/>
          </a:p>
        </p:txBody>
      </p:sp>
      <p:sp>
        <p:nvSpPr>
          <p:cNvPr id="2193" name="Google Shape;2193;p46"/>
          <p:cNvSpPr txBox="1"/>
          <p:nvPr>
            <p:ph idx="1" type="subTitle"/>
          </p:nvPr>
        </p:nvSpPr>
        <p:spPr>
          <a:xfrm>
            <a:off x="1969675" y="803200"/>
            <a:ext cx="5671500" cy="35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Erogatori (Admin)</a:t>
            </a:r>
            <a:endParaRPr b="1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Barlow Semi Condensed"/>
              <a:buChar char="●"/>
            </a:pPr>
            <a:r>
              <a:rPr lang="en">
                <a:solidFill>
                  <a:srgbClr val="000000"/>
                </a:solidFill>
              </a:rPr>
              <a:t>Accesso riservato tramite credenziali predefinite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●"/>
            </a:pPr>
            <a:r>
              <a:rPr lang="en">
                <a:solidFill>
                  <a:srgbClr val="000000"/>
                </a:solidFill>
              </a:rPr>
              <a:t>Interfaccia di amministrazione per: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○"/>
            </a:pPr>
            <a:r>
              <a:rPr lang="en">
                <a:solidFill>
                  <a:srgbClr val="000000"/>
                </a:solidFill>
              </a:rPr>
              <a:t>Visualizzare i settori di ogni circuito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○"/>
            </a:pPr>
            <a:r>
              <a:rPr lang="en">
                <a:solidFill>
                  <a:srgbClr val="000000"/>
                </a:solidFill>
              </a:rPr>
              <a:t>Modificare la quantità e il prezzo dei biglietti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○"/>
            </a:pPr>
            <a:r>
              <a:rPr lang="en">
                <a:solidFill>
                  <a:srgbClr val="000000"/>
                </a:solidFill>
              </a:rPr>
              <a:t>Eliminare un settore con conferma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rgbClr val="000000"/>
                </a:solidFill>
              </a:rPr>
              <a:t>Logout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47"/>
          <p:cNvSpPr txBox="1"/>
          <p:nvPr>
            <p:ph type="title"/>
          </p:nvPr>
        </p:nvSpPr>
        <p:spPr>
          <a:xfrm>
            <a:off x="1577125" y="227200"/>
            <a:ext cx="55947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EROGATORE</a:t>
            </a:r>
            <a:endParaRPr/>
          </a:p>
        </p:txBody>
      </p:sp>
      <p:pic>
        <p:nvPicPr>
          <p:cNvPr id="2199" name="Google Shape;2199;p47" title="Registrazione schermo 2025-07-08 alle 12.10.20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325" y="803200"/>
            <a:ext cx="6886925" cy="360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48"/>
          <p:cNvSpPr txBox="1"/>
          <p:nvPr>
            <p:ph type="title"/>
          </p:nvPr>
        </p:nvSpPr>
        <p:spPr>
          <a:xfrm>
            <a:off x="1938225" y="2231125"/>
            <a:ext cx="4235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INTERAZIONE CON IL SISTEMA</a:t>
            </a:r>
            <a:endParaRPr sz="4700"/>
          </a:p>
        </p:txBody>
      </p:sp>
      <p:sp>
        <p:nvSpPr>
          <p:cNvPr id="2205" name="Google Shape;2205;p48"/>
          <p:cNvSpPr txBox="1"/>
          <p:nvPr>
            <p:ph idx="2" type="title"/>
          </p:nvPr>
        </p:nvSpPr>
        <p:spPr>
          <a:xfrm>
            <a:off x="2973225" y="116131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49"/>
          <p:cNvSpPr txBox="1"/>
          <p:nvPr>
            <p:ph type="title"/>
          </p:nvPr>
        </p:nvSpPr>
        <p:spPr>
          <a:xfrm>
            <a:off x="1577125" y="227200"/>
            <a:ext cx="55947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INTERAZIONE CON IL SISTEMA</a:t>
            </a:r>
            <a:endParaRPr/>
          </a:p>
        </p:txBody>
      </p:sp>
      <p:sp>
        <p:nvSpPr>
          <p:cNvPr id="2211" name="Google Shape;2211;p49"/>
          <p:cNvSpPr txBox="1"/>
          <p:nvPr>
            <p:ph idx="1" type="subTitle"/>
          </p:nvPr>
        </p:nvSpPr>
        <p:spPr>
          <a:xfrm>
            <a:off x="1969675" y="803200"/>
            <a:ext cx="5671500" cy="35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L'interfaccia utente è pensata per offrire un'esperienza semplice e responsiva: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Barlow Semi Condensed"/>
              <a:buChar char="●"/>
            </a:pPr>
            <a:r>
              <a:rPr lang="en" sz="1100">
                <a:solidFill>
                  <a:srgbClr val="000000"/>
                </a:solidFill>
              </a:rPr>
              <a:t>Homepage: storia della Formula 1 con elementi visuali coinvolgenti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Semi Condensed"/>
              <a:buChar char="●"/>
            </a:pPr>
            <a:r>
              <a:rPr lang="en" sz="1100">
                <a:solidFill>
                  <a:srgbClr val="000000"/>
                </a:solidFill>
              </a:rPr>
              <a:t>Sezione "Piloti": visualizzazione card interattive dei piloti con dettagli su hover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Semi Condensed"/>
              <a:buChar char="●"/>
            </a:pPr>
            <a:r>
              <a:rPr lang="en" sz="1100">
                <a:solidFill>
                  <a:srgbClr val="000000"/>
                </a:solidFill>
              </a:rPr>
              <a:t>Sezione "Scuderie": gallerie di immagini, storia e dettagli tecnici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Semi Condensed"/>
              <a:buChar char="●"/>
            </a:pPr>
            <a:r>
              <a:rPr lang="en" sz="1100">
                <a:solidFill>
                  <a:srgbClr val="000000"/>
                </a:solidFill>
              </a:rPr>
              <a:t>Sezione "Calendario": eventi futuri con countdown, link a Google Calendar e, se passati, collegamento ai risultati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Semi Condensed"/>
              <a:buChar char="●"/>
            </a:pPr>
            <a:r>
              <a:rPr lang="en" sz="1100">
                <a:solidFill>
                  <a:srgbClr val="000000"/>
                </a:solidFill>
              </a:rPr>
              <a:t>Sezione "News": galleria notizie 3x3 con effetto hover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Semi Condensed"/>
              <a:buChar char="●"/>
            </a:pPr>
            <a:r>
              <a:rPr lang="en" sz="1100">
                <a:solidFill>
                  <a:srgbClr val="000000"/>
                </a:solidFill>
              </a:rPr>
              <a:t>Sezione "Classifiche": tabelle dinamiche filtrabili per pilota, scuderia o circuito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L'acquisto dei biglietti avviene tramite una form interattiva con feedback in tempo reale sulla disponibilità e conferma visiva.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50"/>
          <p:cNvSpPr txBox="1"/>
          <p:nvPr>
            <p:ph type="title"/>
          </p:nvPr>
        </p:nvSpPr>
        <p:spPr>
          <a:xfrm>
            <a:off x="1938225" y="2231125"/>
            <a:ext cx="4235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COME AVVIARE I SERVER</a:t>
            </a:r>
            <a:endParaRPr sz="4700"/>
          </a:p>
        </p:txBody>
      </p:sp>
      <p:sp>
        <p:nvSpPr>
          <p:cNvPr id="2217" name="Google Shape;2217;p50"/>
          <p:cNvSpPr txBox="1"/>
          <p:nvPr>
            <p:ph idx="2" type="title"/>
          </p:nvPr>
        </p:nvSpPr>
        <p:spPr>
          <a:xfrm>
            <a:off x="2973225" y="116131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51"/>
          <p:cNvSpPr txBox="1"/>
          <p:nvPr>
            <p:ph type="title"/>
          </p:nvPr>
        </p:nvSpPr>
        <p:spPr>
          <a:xfrm>
            <a:off x="1577125" y="227200"/>
            <a:ext cx="55947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COME AVVIARE I SERVER?</a:t>
            </a:r>
            <a:endParaRPr/>
          </a:p>
        </p:txBody>
      </p:sp>
      <p:sp>
        <p:nvSpPr>
          <p:cNvPr id="2223" name="Google Shape;2223;p51"/>
          <p:cNvSpPr txBox="1"/>
          <p:nvPr>
            <p:ph idx="1" type="subTitle"/>
          </p:nvPr>
        </p:nvSpPr>
        <p:spPr>
          <a:xfrm>
            <a:off x="1969675" y="803200"/>
            <a:ext cx="5671500" cy="35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Configurare il database (file </a:t>
            </a:r>
            <a:r>
              <a:rPr b="1" lang="en" sz="1200">
                <a:solidFill>
                  <a:srgbClr val="000000"/>
                </a:solidFill>
              </a:rPr>
              <a:t>db.js</a:t>
            </a:r>
            <a:r>
              <a:rPr lang="en" sz="1200">
                <a:solidFill>
                  <a:srgbClr val="000000"/>
                </a:solidFill>
              </a:rPr>
              <a:t> con credenziali corrette)</a:t>
            </a:r>
            <a:br>
              <a:rPr lang="en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Semi Condensed"/>
              <a:buChar char="●"/>
            </a:pPr>
            <a:r>
              <a:rPr lang="en" sz="1200">
                <a:solidFill>
                  <a:srgbClr val="000000"/>
                </a:solidFill>
              </a:rPr>
              <a:t>Posizionarsi nella cartella del server</a:t>
            </a:r>
            <a:br>
              <a:rPr lang="en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Eseguire</a:t>
            </a:r>
            <a:r>
              <a:rPr b="1" lang="en" sz="1200">
                <a:solidFill>
                  <a:srgbClr val="000000"/>
                </a:solidFill>
              </a:rPr>
              <a:t> npm install</a:t>
            </a:r>
            <a:r>
              <a:rPr lang="en" sz="1200">
                <a:solidFill>
                  <a:srgbClr val="000000"/>
                </a:solidFill>
              </a:rPr>
              <a:t> per installare le dipendenze</a:t>
            </a:r>
            <a:br>
              <a:rPr lang="en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Semi Condensed"/>
              <a:buChar char="●"/>
            </a:pPr>
            <a:r>
              <a:rPr lang="en" sz="1200">
                <a:solidFill>
                  <a:srgbClr val="000000"/>
                </a:solidFill>
              </a:rPr>
              <a:t>Avviare:</a:t>
            </a:r>
            <a:br>
              <a:rPr lang="en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>
                <a:solidFill>
                  <a:srgbClr val="000000"/>
                </a:solidFill>
              </a:rPr>
              <a:t>node server/server-client.js</a:t>
            </a:r>
            <a:r>
              <a:rPr lang="en" sz="1200">
                <a:solidFill>
                  <a:srgbClr val="000000"/>
                </a:solidFill>
              </a:rPr>
              <a:t> per il server utente</a:t>
            </a:r>
            <a:br>
              <a:rPr lang="en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>
                <a:solidFill>
                  <a:srgbClr val="000000"/>
                </a:solidFill>
              </a:rPr>
              <a:t>node server/server-admin.js</a:t>
            </a:r>
            <a:r>
              <a:rPr lang="en" sz="1200">
                <a:solidFill>
                  <a:srgbClr val="000000"/>
                </a:solidFill>
              </a:rPr>
              <a:t> per il server amministratore</a:t>
            </a:r>
            <a:br>
              <a:rPr lang="en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Accedere a </a:t>
            </a:r>
            <a:r>
              <a:rPr b="1" lang="en" sz="12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http://localhost:3000</a:t>
            </a:r>
            <a:r>
              <a:rPr b="1" lang="en" sz="1200">
                <a:solidFill>
                  <a:srgbClr val="000000"/>
                </a:solidFill>
              </a:rPr>
              <a:t> e</a:t>
            </a:r>
            <a:r>
              <a:rPr lang="en" sz="1200">
                <a:solidFill>
                  <a:srgbClr val="000000"/>
                </a:solidFill>
              </a:rPr>
              <a:t> </a:t>
            </a:r>
            <a:r>
              <a:rPr b="1" lang="en" sz="12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http://localhost:300</a:t>
            </a:r>
            <a:r>
              <a:rPr b="1" lang="en" sz="1200">
                <a:solidFill>
                  <a:srgbClr val="000000"/>
                </a:solidFill>
              </a:rPr>
              <a:t>1</a:t>
            </a:r>
            <a:r>
              <a:rPr lang="en" sz="1200">
                <a:solidFill>
                  <a:srgbClr val="000000"/>
                </a:solidFill>
              </a:rPr>
              <a:t> via browser</a:t>
            </a:r>
            <a:br>
              <a:rPr lang="en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Semi Condensed"/>
              <a:buChar char="●"/>
            </a:pPr>
            <a:r>
              <a:rPr lang="en" sz="1200">
                <a:solidFill>
                  <a:srgbClr val="000000"/>
                </a:solidFill>
              </a:rPr>
              <a:t>Eseguire test REST con Postman o simili</a:t>
            </a:r>
            <a:br>
              <a:rPr lang="en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8" name="Google Shape;2228;p5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